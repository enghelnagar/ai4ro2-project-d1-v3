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Lato Bold" panose="020F0802020204030203" pitchFamily="34" charset="0"/>
      <p:bold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Slab" pitchFamily="2" charset="0"/>
      <p:regular r:id="rId18"/>
      <p:bold r:id="rId19"/>
    </p:embeddedFont>
    <p:embeddedFont>
      <p:font typeface="Roboto Slab Light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24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0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0713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Planetary Rover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762720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Heterogeneous Multi-Robot Exploration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80947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SUBJECT: Artificial Intelligence for Robotics II (AI4RO2)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625269-1912-D4BA-7F61-2CBB4547698C}"/>
              </a:ext>
            </a:extLst>
          </p:cNvPr>
          <p:cNvSpPr/>
          <p:nvPr/>
        </p:nvSpPr>
        <p:spPr>
          <a:xfrm>
            <a:off x="7586662" y="4721873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600" b="1" dirty="0">
                <a:solidFill>
                  <a:schemeClr val="bg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Date:</a:t>
            </a:r>
            <a:r>
              <a:rPr lang="ar-EG" sz="1600" b="1" dirty="0">
                <a:solidFill>
                  <a:schemeClr val="bg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18/6/2026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7" name="Picture 6" descr="Università degli studi di Genova - Genova Blue District">
            <a:extLst>
              <a:ext uri="{FF2B5EF4-FFF2-40B4-BE49-F238E27FC236}">
                <a16:creationId xmlns:a16="http://schemas.microsoft.com/office/drawing/2014/main" id="{FCA620B7-57AD-0F87-A3DD-8C44CE0898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359" b="32564"/>
          <a:stretch>
            <a:fillRect/>
          </a:stretch>
        </p:blipFill>
        <p:spPr bwMode="auto">
          <a:xfrm>
            <a:off x="3531394" y="40129"/>
            <a:ext cx="3009900" cy="995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A2E8BF0C-E8DB-566C-72F3-5884D6F35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6631" y="40130"/>
            <a:ext cx="1714500" cy="91713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sz="1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UNIVERSITY OF GENOA</a:t>
            </a:r>
            <a:br>
              <a:rPr lang="en-US" sz="10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Master’s Degree in Robotics Engineering</a:t>
            </a:r>
            <a:br>
              <a:rPr lang="en-US" sz="10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Program Code: 11963</a:t>
            </a:r>
            <a:br>
              <a:rPr lang="en-US" sz="10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Academic Year</a:t>
            </a:r>
            <a:r>
              <a:rPr lang="ar-SA" sz="1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2025/2026</a:t>
            </a:r>
            <a:endParaRPr lang="en-US" sz="1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sz="1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729122D-6318-06C2-9089-8F5FAB3A5381}"/>
              </a:ext>
            </a:extLst>
          </p:cNvPr>
          <p:cNvSpPr/>
          <p:nvPr/>
        </p:nvSpPr>
        <p:spPr>
          <a:xfrm>
            <a:off x="3925119" y="4057204"/>
            <a:ext cx="2179141" cy="38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NAME: HUSSEIN MOHAMED ELNAGGAR</a:t>
            </a:r>
            <a:b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ID: S8786438</a:t>
            </a:r>
            <a:b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79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Domain &amp; Planning Problem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86508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728267"/>
            <a:ext cx="21138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1: Classical STRIPS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034778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Classical planning to validate logical coordination and task allocation between heterogeneous rovers.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771924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4066877" y="29136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2: PDDL+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6877" y="3220194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Dynamical System with continuous time, numeric fluents, and autonomous environmental dynamics.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25119" y="397505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cooperation emerges organically from spatial and terrain constraints via the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can-traverse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predicate — no explicit synchronization actions required.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19BFCBE-F8AF-242E-0CA0-A0AEC9A0CB09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992" y="200741"/>
            <a:ext cx="6156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1: Types, Predicates &amp; Actions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05175" y="115540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Predicates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108" y="11259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53610" y="3873847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02234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149" y="4121869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41087" y="406978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Terrain types (flat, rough, mixed) gate mobility via </a:t>
            </a: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can-traverse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avoiding duplicate action definitions.</a:t>
            </a:r>
            <a:endParaRPr lang="en-US" sz="11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6CAA577-3F30-913D-D76F-3C4B0270D23E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75853D-D80D-700A-653F-8374FC664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6255" y="1485736"/>
            <a:ext cx="4915956" cy="3089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25E844-B325-EAE8-AE89-4F23C2661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874" y="1485736"/>
            <a:ext cx="4313396" cy="2067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564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Problems 1 &amp; 2: Single-Robot Scenarios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54994"/>
            <a:ext cx="4722763" cy="1081757"/>
          </a:xfrm>
          <a:prstGeom prst="roundRect">
            <a:avLst>
              <a:gd name="adj" fmla="val 1966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6927" y="2015803"/>
            <a:ext cx="22299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1 — Single Sample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322314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Wheeled rover retrieves one sample from flat terrain and delivers to base. ENHSP generates a minimal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4-step optimal plan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078510"/>
            <a:ext cx="4722763" cy="1308571"/>
          </a:xfrm>
          <a:prstGeom prst="roundRect">
            <a:avLst>
              <a:gd name="adj" fmla="val 1625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927" y="3239319"/>
            <a:ext cx="2525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2 — Multiple Samples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6927" y="3545830"/>
            <a:ext cx="44011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Rover retrieves two samples across expanded terrain. Planner handles repetitive allocation, completing sample_a's full cycle before initiating sample_b retrieval — a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10-step sequential plan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38AAB1-D6E9-1E81-F1C9-39CE3C9149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833"/>
          <a:stretch>
            <a:fillRect/>
          </a:stretch>
        </p:blipFill>
        <p:spPr>
          <a:xfrm>
            <a:off x="6133708" y="-56251"/>
            <a:ext cx="2591581" cy="1372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18411D-482E-8AFB-A739-1BAD932F27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3014"/>
          <a:stretch>
            <a:fillRect/>
          </a:stretch>
        </p:blipFill>
        <p:spPr>
          <a:xfrm>
            <a:off x="5891643" y="3176503"/>
            <a:ext cx="3075709" cy="2099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97669"/>
            <a:ext cx="450420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3: Forced Cooperation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8" y="938567"/>
            <a:ext cx="5075147" cy="2875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2070274"/>
            <a:ext cx="25490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sample in rough terrain is </a:t>
            </a:r>
            <a:r>
              <a:rPr lang="en-US" sz="8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inaccessible to the wheeled rover</a:t>
            </a: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the legged rover cannot traverse flat terrain to base. The planner resolves this via a </a:t>
            </a:r>
            <a:r>
              <a:rPr lang="en-US" sz="8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relay handover</a:t>
            </a: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the mixed-terrain </a:t>
            </a:r>
            <a:r>
              <a:rPr lang="en-US" sz="8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transfer_zone</a:t>
            </a: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74489" y="400563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4183261"/>
            <a:ext cx="3852490" cy="14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4489" y="426831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Gatherer (Legged)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74489" y="4498777"/>
            <a:ext cx="385249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Navigates rough terrain, collects sample, drops at transfer_zone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616946" y="400563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946" y="4183261"/>
            <a:ext cx="3852490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16946" y="426831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Courier (Wheeled)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616946" y="4498777"/>
            <a:ext cx="385249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at transfer_zone, navigates flat terrain to base</a:t>
            </a:r>
            <a:endParaRPr lang="en-US" sz="8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BB9B585-EB2D-4A1D-7CF0-F6CF612AF655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1CE813A-9573-E9B2-73D9-8EDE3CAEE2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9149"/>
          <a:stretch>
            <a:fillRect/>
          </a:stretch>
        </p:blipFill>
        <p:spPr>
          <a:xfrm>
            <a:off x="1058316" y="1306278"/>
            <a:ext cx="3784551" cy="189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96255"/>
            <a:ext cx="4899868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4: Advanced Coordination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901601"/>
            <a:ext cx="794645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branched crater network with two samples in disconnected rough zones. The planner distributes workload based entirely on mechanical constraints.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63" y="1148358"/>
            <a:ext cx="6931000" cy="3352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834" y="3311173"/>
            <a:ext cx="1685033" cy="21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2 Delivery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37834" y="3581715"/>
            <a:ext cx="2568740" cy="297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Wheeled rover shuttles samples hub-to-base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37834" y="2494868"/>
            <a:ext cx="1685033" cy="21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Sample Deposit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834" y="2765410"/>
            <a:ext cx="2568740" cy="14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Deposit collected samples at central hub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37834" y="1678563"/>
            <a:ext cx="1685033" cy="21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1 Mining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7834" y="1949104"/>
            <a:ext cx="2568740" cy="297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Legged rover mines north and south craters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7336" y="4593878"/>
            <a:ext cx="794645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legged rover acts as a dedicated </a:t>
            </a:r>
            <a:r>
              <a:rPr lang="en-US" sz="8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miner</a:t>
            </a: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wheeled rover as a </a:t>
            </a:r>
            <a:r>
              <a:rPr lang="en-US" sz="8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logistics courier</a:t>
            </a: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cooperation emerges purely from terrain constraints.</a:t>
            </a:r>
            <a:endParaRPr lang="en-US" sz="85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52905E3-956F-5240-0C3D-225E0C54DFA6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C99679-4900-3AA6-BAFD-010705FC12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206"/>
          <a:stretch>
            <a:fillRect/>
          </a:stretch>
        </p:blipFill>
        <p:spPr>
          <a:xfrm>
            <a:off x="6050848" y="1512794"/>
            <a:ext cx="3030807" cy="2987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73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2: PDDL+ Hybrid Dynamical System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03313"/>
            <a:ext cx="2290465" cy="2050033"/>
          </a:xfrm>
          <a:prstGeom prst="roundRect">
            <a:avLst>
              <a:gd name="adj" fmla="val 1037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645072"/>
            <a:ext cx="1940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Processes (Continuous)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1951583"/>
            <a:ext cx="2006947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Maps-process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distance reduction at speed × #t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accumulate-risk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hazard buildup in rough terrain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recover-risk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risk depletion during rest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03313"/>
            <a:ext cx="2290539" cy="2050033"/>
          </a:xfrm>
          <a:prstGeom prst="roundRect">
            <a:avLst>
              <a:gd name="adj" fmla="val 1037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645072"/>
            <a:ext cx="1794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Events (Autonomous)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1951583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risk-failure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fires when risk-level exceeds max-risk, sets is-broken and speed=0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695105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8368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Navigation Design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4143375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Durative actions avoided. Navigation split into instantaneous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start/end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actions modulated by continuous processes.</a:t>
            </a:r>
            <a:endParaRPr lang="en-US" sz="11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8F5502E-A356-DB6B-B514-36F56A472109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E71872-9EE6-7B7D-96E3-1173F07363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2347"/>
          <a:stretch>
            <a:fillRect/>
          </a:stretch>
        </p:blipFill>
        <p:spPr>
          <a:xfrm>
            <a:off x="310360" y="69165"/>
            <a:ext cx="2164524" cy="2868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D215F5-9294-1273-6DD0-3BE404F0CF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7654"/>
          <a:stretch>
            <a:fillRect/>
          </a:stretch>
        </p:blipFill>
        <p:spPr>
          <a:xfrm>
            <a:off x="193079" y="2937460"/>
            <a:ext cx="2896485" cy="2396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700" y="307292"/>
            <a:ext cx="78906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PDDL+ Problems 1 &amp; 2: Continuous Dynamics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40700" y="11046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1 — Baseline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40700" y="146785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Single-agent scenario validating distance depletion and risk accumulation. ENHSP synthesized a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16-step plan, 10.0 time units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Risk stayed below threshold — no resting required.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94282" y="1104639"/>
            <a:ext cx="36520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2 — Proactive Risk Mitigation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94282" y="146785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Planner forced to use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safe_island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mandatory rest. Each rough leg generates 45 risk; a full round-trip would exceed max-risk (100). The planner autonomously inserted rest phases — a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107-step plan, 77.0 time units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868991D-3E3D-7EA4-A373-F2AFD0F7F3A7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C3533F-A62B-A23E-013F-641F0AD00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37" y="2450876"/>
            <a:ext cx="1999985" cy="2584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53ACB7-C2DC-13E6-B4A0-1165740B83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673" y="2450876"/>
            <a:ext cx="1944483" cy="26046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06541"/>
            <a:ext cx="85723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PDDL+ Problems 3 &amp; 4: Multi-Agent Hybrid Plans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25" y="834583"/>
            <a:ext cx="3484413" cy="21535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244751"/>
            <a:ext cx="3231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3 — Time-Critical Cooperation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551262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Legged rover gathers from rough terrain; wheeled rover exploits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highway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fast logistics.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 steps, 146.0 time units.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11455"/>
            <a:ext cx="3616036" cy="2234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3244751"/>
            <a:ext cx="275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4 — Scaled Optimization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3551262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Concurrent scheduling with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(:metric minimize total-time)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Maximum parallelization — legged mines while wheeled delivers.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152 steps, 108.0 time units.</a:t>
            </a:r>
            <a:endParaRPr lang="en-US" sz="11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7AF5E9-B84A-73C2-A918-6381B5EB67F0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375D46-047A-3192-E564-088797B23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25" y="878239"/>
            <a:ext cx="2110559" cy="2066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9748F6-EDE0-34A6-66E1-A27236E75E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811454"/>
            <a:ext cx="1731973" cy="22348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7437"/>
            <a:ext cx="606645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Results, Limitations &amp; 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478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Achievements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47999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STRIPS: Emergent cooperation via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can-traverse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capability encoding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PDDL+: Continuous navigation, risk accumulation, and autonomous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risk-failure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Planner dynamically schedules mandatory rest to prevent systemic failure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48478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847999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PDDL+ temporal state-space explodes with asynchronous parallel agents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TMP Gap: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Symbolic terrain abstraction ignores slope gradients, traction, and kinodynamic constraints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deployment requires integration with geometric motion planners (e.g., RRT)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517032"/>
            <a:ext cx="8151763" cy="779562"/>
          </a:xfrm>
          <a:prstGeom prst="roundRect">
            <a:avLst>
              <a:gd name="adj" fmla="val 2728"/>
            </a:avLst>
          </a:prstGeom>
          <a:solidFill>
            <a:srgbClr val="08254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717801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3679999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work highlights the trade-off between spatial pruning through heterogeneity and temporal state-space explosion in hybrid planning.</a:t>
            </a:r>
            <a:endParaRPr lang="en-US" sz="11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9ED1E7-D81F-FA32-8AE7-B3C756B502E2}"/>
              </a:ext>
            </a:extLst>
          </p:cNvPr>
          <p:cNvSpPr/>
          <p:nvPr/>
        </p:nvSpPr>
        <p:spPr>
          <a:xfrm>
            <a:off x="7679531" y="4746665"/>
            <a:ext cx="1464469" cy="396835"/>
          </a:xfrm>
          <a:prstGeom prst="rect">
            <a:avLst/>
          </a:prstGeom>
          <a:solidFill>
            <a:srgbClr val="202733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694</Words>
  <Application>Microsoft Office PowerPoint</Application>
  <PresentationFormat>On-screen Show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Lato Bold</vt:lpstr>
      <vt:lpstr>Times New Roman</vt:lpstr>
      <vt:lpstr>Roboto</vt:lpstr>
      <vt:lpstr>Roboto Slab Light</vt:lpstr>
      <vt:lpstr>Roboto Slab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ELdawlia</dc:creator>
  <cp:lastModifiedBy>Hussein Mohamed Abdelazim Elnagar</cp:lastModifiedBy>
  <cp:revision>3</cp:revision>
  <dcterms:created xsi:type="dcterms:W3CDTF">2026-06-19T15:41:16Z</dcterms:created>
  <dcterms:modified xsi:type="dcterms:W3CDTF">2026-06-19T17:40:24Z</dcterms:modified>
</cp:coreProperties>
</file>